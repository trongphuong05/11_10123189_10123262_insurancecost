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Archivo Black" charset="1" panose="020B0A03020202020B04"/>
      <p:regular r:id="rId19"/>
    </p:embeddedFont>
    <p:embeddedFont>
      <p:font typeface="Open Sans" charset="1" panose="00000000000000000000"/>
      <p:regular r:id="rId20"/>
    </p:embeddedFont>
    <p:embeddedFont>
      <p:font typeface="IBM Plex Mono" charset="1" panose="020B0509050203000203"/>
      <p:regular r:id="rId21"/>
    </p:embeddedFont>
    <p:embeddedFont>
      <p:font typeface="Open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2A2A">
                    <a:alpha val="100000"/>
                  </a:srgbClr>
                </a:gs>
                <a:gs pos="100000">
                  <a:srgbClr val="102A2A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104900"/>
            <a:ext cx="6858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7D5B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BÁO CÁO DỰ ÁN  •  15–20 PHÚT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390775"/>
            <a:ext cx="10001250" cy="182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Dự đoán chi phí</a:t>
            </a:r>
          </a:p>
          <a:p>
            <a:pPr algn="l">
              <a:lnSpc>
                <a:spcPts val="7038"/>
              </a:lnSpc>
            </a:pPr>
            <a:r>
              <a:rPr lang="en-US" sz="69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bảo hiểm y tế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4572000"/>
            <a:ext cx="78105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50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Bằng bài toán hồi quy và mô hình Random Forest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315200"/>
            <a:ext cx="6667500" cy="6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HỌC MÁY CƠ BẢN (221180)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Hồi quy  ×  Random Forest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7D5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Thành viên nhóm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500" y="3000375"/>
            <a:ext cx="6953250" cy="3905250"/>
            <a:chOff x="0" y="0"/>
            <a:chExt cx="9271000" cy="520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271000" cy="5207000"/>
              <a:chOff x="0" y="0"/>
              <a:chExt cx="9271000" cy="520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1000" cy="5207000"/>
              </a:xfrm>
              <a:custGeom>
                <a:avLst/>
                <a:gdLst/>
                <a:ahLst/>
                <a:cxnLst/>
                <a:rect r="r" b="b" t="t" l="l"/>
                <a:pathLst>
                  <a:path h="5207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7D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1000" cy="524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77800" cy="5207000"/>
              <a:chOff x="0" y="0"/>
              <a:chExt cx="177800" cy="520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7800" cy="5207000"/>
              </a:xfrm>
              <a:custGeom>
                <a:avLst/>
                <a:gdLst/>
                <a:ahLst/>
                <a:cxnLst/>
                <a:rect r="r" b="b" t="t" l="l"/>
                <a:pathLst>
                  <a:path h="52070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67D5B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7800" cy="524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60400" y="530225"/>
              <a:ext cx="1397000" cy="100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08"/>
                </a:lnSpc>
              </a:pPr>
              <a:r>
                <a:rPr lang="en-US" sz="5400">
                  <a:solidFill>
                    <a:srgbClr val="67D5B5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60400" y="2651125"/>
              <a:ext cx="7620000" cy="62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3375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Đào Văn Khiêm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60400" y="3644900"/>
              <a:ext cx="6350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144" b="true">
                  <a:solidFill>
                    <a:srgbClr val="69817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MSV  /  10123189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20250" y="3000375"/>
            <a:ext cx="6953250" cy="3905250"/>
            <a:chOff x="0" y="0"/>
            <a:chExt cx="9271000" cy="5207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271000" cy="5207000"/>
              <a:chOff x="0" y="0"/>
              <a:chExt cx="9271000" cy="520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71000" cy="5207000"/>
              </a:xfrm>
              <a:custGeom>
                <a:avLst/>
                <a:gdLst/>
                <a:ahLst/>
                <a:cxnLst/>
                <a:rect r="r" b="b" t="t" l="l"/>
                <a:pathLst>
                  <a:path h="5207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7D1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271000" cy="524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77800" cy="5207000"/>
              <a:chOff x="0" y="0"/>
              <a:chExt cx="177800" cy="520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77800" cy="5207000"/>
              </a:xfrm>
              <a:custGeom>
                <a:avLst/>
                <a:gdLst/>
                <a:ahLst/>
                <a:cxnLst/>
                <a:rect r="r" b="b" t="t" l="l"/>
                <a:pathLst>
                  <a:path h="52070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5207000"/>
                    </a:lnTo>
                    <a:lnTo>
                      <a:pt x="0" y="5207000"/>
                    </a:lnTo>
                    <a:close/>
                  </a:path>
                </a:pathLst>
              </a:custGeom>
              <a:solidFill>
                <a:srgbClr val="FF76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77800" cy="524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60400" y="530225"/>
              <a:ext cx="1397000" cy="100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08"/>
                </a:lnSpc>
              </a:pPr>
              <a:r>
                <a:rPr lang="en-US" sz="5400">
                  <a:solidFill>
                    <a:srgbClr val="FF76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60400" y="2651125"/>
              <a:ext cx="7620000" cy="62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3375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Nguyễn Trọng Phương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60400" y="3644900"/>
              <a:ext cx="6350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144" b="true">
                  <a:solidFill>
                    <a:srgbClr val="69817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MSV  /  10123262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57500" y="7762875"/>
            <a:ext cx="125730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5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Hai thành viên • một pipeline • một mục tiêu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Bài toán &amp; Dữ liệu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750" y="7239000"/>
            <a:ext cx="2190750" cy="685800"/>
            <a:chOff x="0" y="0"/>
            <a:chExt cx="29210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14750" y="7239000"/>
            <a:ext cx="2190750" cy="685800"/>
            <a:chOff x="0" y="0"/>
            <a:chExt cx="2921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1750" y="7239000"/>
            <a:ext cx="2190750" cy="685800"/>
            <a:chOff x="0" y="0"/>
            <a:chExt cx="29210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bmi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0" y="7239000"/>
            <a:ext cx="2190750" cy="685800"/>
            <a:chOff x="0" y="0"/>
            <a:chExt cx="2921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children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15750" y="7239000"/>
            <a:ext cx="2190750" cy="685800"/>
            <a:chOff x="0" y="0"/>
            <a:chExt cx="29210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FF7657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smoker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382750" y="7239000"/>
            <a:ext cx="2190750" cy="685800"/>
            <a:chOff x="0" y="0"/>
            <a:chExt cx="29210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1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815009"/>
                  </a:lnTo>
                  <a:cubicBezTo>
                    <a:pt x="2921000" y="869901"/>
                    <a:pt x="2876501" y="914400"/>
                    <a:pt x="2821609" y="914400"/>
                  </a:cubicBezTo>
                  <a:lnTo>
                    <a:pt x="99391" y="914400"/>
                  </a:lnTo>
                  <a:cubicBezTo>
                    <a:pt x="44499" y="914400"/>
                    <a:pt x="0" y="869901"/>
                    <a:pt x="0" y="8150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921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region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7750" y="2828925"/>
            <a:ext cx="4762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FF765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MỤC TIÊU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750" y="3352800"/>
            <a:ext cx="6191250" cy="109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795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charges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4438650"/>
            <a:ext cx="619125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>
                <a:solidFill>
                  <a:srgbClr val="173333"/>
                </a:solidFill>
                <a:latin typeface="Open Sans"/>
                <a:ea typeface="Open Sans"/>
                <a:cs typeface="Open Sans"/>
                <a:sym typeface="Open Sans"/>
              </a:rPr>
              <a:t>Dự đoán chi phí bảo hiểm y tế</a:t>
            </a:r>
          </a:p>
          <a:p>
            <a:pPr algn="l">
              <a:lnSpc>
                <a:spcPts val="3104"/>
              </a:lnSpc>
            </a:pPr>
            <a:r>
              <a:rPr lang="en-US" sz="2250">
                <a:solidFill>
                  <a:srgbClr val="173333"/>
                </a:solidFill>
                <a:latin typeface="Open Sans"/>
                <a:ea typeface="Open Sans"/>
                <a:cs typeface="Open Sans"/>
                <a:sym typeface="Open Sans"/>
              </a:rPr>
              <a:t>(USD / năm) bằng hồi quy.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01250" y="3086100"/>
            <a:ext cx="4762500" cy="11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8400">
                <a:solidFill>
                  <a:srgbClr val="67D5B5"/>
                </a:solidFill>
                <a:latin typeface="Archivo Black"/>
                <a:ea typeface="Archivo Black"/>
                <a:cs typeface="Archivo Black"/>
                <a:sym typeface="Archivo Black"/>
              </a:rPr>
              <a:t>1.338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96500" y="4057650"/>
            <a:ext cx="5905500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173333"/>
                </a:solidFill>
                <a:latin typeface="Open Sans"/>
                <a:ea typeface="Open Sans"/>
                <a:cs typeface="Open Sans"/>
                <a:sym typeface="Open Sans"/>
              </a:rPr>
              <a:t>dòng dữ liệu  •  0 giá trị thiếu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96500" y="4933950"/>
            <a:ext cx="6191250" cy="6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Kaggle / mirichoi0218 / insurance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Giấy phép ODbL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96500" y="624840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7333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ai-models/data/dataset.zip   +   DATA.md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7D5B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Phân tích Dữ liệu Khám phá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58250" y="2667000"/>
            <a:ext cx="8096250" cy="5715000"/>
          </a:xfrm>
          <a:custGeom>
            <a:avLst/>
            <a:gdLst/>
            <a:ahLst/>
            <a:cxnLst/>
            <a:rect r="r" b="b" t="t" l="l"/>
            <a:pathLst>
              <a:path h="5715000" w="8096250">
                <a:moveTo>
                  <a:pt x="0" y="0"/>
                </a:moveTo>
                <a:lnTo>
                  <a:pt x="8096250" y="0"/>
                </a:lnTo>
                <a:lnTo>
                  <a:pt x="80962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" t="0" r="-6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47750" y="3038475"/>
            <a:ext cx="5905500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charges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3800475"/>
            <a:ext cx="5905500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lệch phải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114925"/>
            <a:ext cx="63817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Smoker phân tách nhóm rất rõ; tương quan xấp xỉ 0,79.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6515100"/>
            <a:ext cx="6381750" cy="17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12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Tuổi × BMI × smoker tạo tương tác phi tuyến → cần mô hình linh hoạt. Region ảnh hưởng yếu.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82581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4C95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ĐÁNH GIÁ  /  MAE  •  RMSE  •  R²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7D5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Tiền xử lý dữ liệu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3905250"/>
            <a:ext cx="2857500" cy="1714500"/>
            <a:chOff x="0" y="0"/>
            <a:chExt cx="38100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226733"/>
                  </a:lnTo>
                  <a:cubicBezTo>
                    <a:pt x="3810000" y="2259465"/>
                    <a:pt x="3783466" y="2286000"/>
                    <a:pt x="3750733" y="2286000"/>
                  </a:cubicBezTo>
                  <a:lnTo>
                    <a:pt x="59267" y="2286000"/>
                  </a:lnTo>
                  <a:cubicBezTo>
                    <a:pt x="26535" y="2286000"/>
                    <a:pt x="0" y="2259465"/>
                    <a:pt x="0" y="222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7D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810000" cy="231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CHIA 80/20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seed = 42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905250" y="4762500"/>
            <a:ext cx="333375" cy="0"/>
          </a:xfrm>
          <a:prstGeom prst="line">
            <a:avLst/>
          </a:prstGeom>
          <a:ln cap="rnd" w="38100">
            <a:solidFill>
              <a:srgbClr val="FF76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381500" y="3905250"/>
            <a:ext cx="2857500" cy="1714500"/>
            <a:chOff x="0" y="0"/>
            <a:chExt cx="38100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226733"/>
                  </a:lnTo>
                  <a:cubicBezTo>
                    <a:pt x="3810000" y="2259465"/>
                    <a:pt x="3783466" y="2286000"/>
                    <a:pt x="3750733" y="2286000"/>
                  </a:cubicBezTo>
                  <a:lnTo>
                    <a:pt x="59267" y="2286000"/>
                  </a:lnTo>
                  <a:cubicBezTo>
                    <a:pt x="26535" y="2286000"/>
                    <a:pt x="0" y="2259465"/>
                    <a:pt x="0" y="222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7D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810000" cy="231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ONE-HOT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biến phân loại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7381875" y="4762500"/>
            <a:ext cx="333375" cy="0"/>
          </a:xfrm>
          <a:prstGeom prst="line">
            <a:avLst/>
          </a:prstGeom>
          <a:ln cap="rnd" w="38100">
            <a:solidFill>
              <a:srgbClr val="FF76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858125" y="3905250"/>
            <a:ext cx="2857500" cy="1714500"/>
            <a:chOff x="0" y="0"/>
            <a:chExt cx="38100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226733"/>
                  </a:lnTo>
                  <a:cubicBezTo>
                    <a:pt x="3810000" y="2259465"/>
                    <a:pt x="3783466" y="2286000"/>
                    <a:pt x="3750733" y="2286000"/>
                  </a:cubicBezTo>
                  <a:lnTo>
                    <a:pt x="59267" y="2286000"/>
                  </a:lnTo>
                  <a:cubicBezTo>
                    <a:pt x="26535" y="2286000"/>
                    <a:pt x="0" y="2259465"/>
                    <a:pt x="0" y="222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7D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810000" cy="231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IMPUTER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 toàn dữ liệu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858500" y="4762500"/>
            <a:ext cx="333375" cy="0"/>
          </a:xfrm>
          <a:prstGeom prst="line">
            <a:avLst/>
          </a:prstGeom>
          <a:ln cap="rnd" w="38100">
            <a:solidFill>
              <a:srgbClr val="FF76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334750" y="3905250"/>
            <a:ext cx="2857500" cy="1714500"/>
            <a:chOff x="0" y="0"/>
            <a:chExt cx="3810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226733"/>
                  </a:lnTo>
                  <a:cubicBezTo>
                    <a:pt x="3810000" y="2259465"/>
                    <a:pt x="3783466" y="2286000"/>
                    <a:pt x="3750733" y="2286000"/>
                  </a:cubicBezTo>
                  <a:lnTo>
                    <a:pt x="59267" y="2286000"/>
                  </a:lnTo>
                  <a:cubicBezTo>
                    <a:pt x="26535" y="2286000"/>
                    <a:pt x="0" y="2259465"/>
                    <a:pt x="0" y="222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7D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810000" cy="231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SCALER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17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chỉ cho SVR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4335125" y="4762500"/>
            <a:ext cx="333375" cy="0"/>
          </a:xfrm>
          <a:prstGeom prst="line">
            <a:avLst/>
          </a:prstGeom>
          <a:ln cap="rnd" w="38100">
            <a:solidFill>
              <a:srgbClr val="FF76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811375" y="3905250"/>
            <a:ext cx="2857500" cy="1714500"/>
            <a:chOff x="0" y="0"/>
            <a:chExt cx="381000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226733"/>
                  </a:lnTo>
                  <a:cubicBezTo>
                    <a:pt x="3810000" y="2259465"/>
                    <a:pt x="3783466" y="2286000"/>
                    <a:pt x="3750733" y="2286000"/>
                  </a:cubicBezTo>
                  <a:lnTo>
                    <a:pt x="59267" y="2286000"/>
                  </a:lnTo>
                  <a:cubicBezTo>
                    <a:pt x="26535" y="2286000"/>
                    <a:pt x="0" y="2259465"/>
                    <a:pt x="0" y="222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A2A"/>
            </a:solidFill>
            <a:ln w="19050" cap="sq">
              <a:solidFill>
                <a:srgbClr val="102A2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810000" cy="231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PIPELINE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fit + lưu model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47750" y="6924675"/>
            <a:ext cx="381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765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NGUYÊN TẮC VÀNG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7486650"/>
            <a:ext cx="13811250" cy="55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Chia dữ liệu trước. Fit transformer sau.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7750" y="8448675"/>
            <a:ext cx="14287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ColumnTransformer + Pipeline giữ toàn bộ biến đổi bên trong quy trình huấn luyện — khóa chặt data leakage.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So sánh 4 Mô hình &amp; Baseline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9457" y="1750708"/>
            <a:ext cx="12767165" cy="783333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573000" y="3019425"/>
            <a:ext cx="447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765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TỪ BASELINE ĐẾN BAGGING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752850"/>
            <a:ext cx="3810000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267200"/>
            <a:ext cx="409575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Underfit vì thiếu tương tác.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3000" y="5467350"/>
            <a:ext cx="3810000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SVR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3000" y="5981700"/>
            <a:ext cx="409575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MAE thấp nhất, nhưng RMSE kém RF.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0" y="7277100"/>
            <a:ext cx="3810000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RF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0" y="7791450"/>
            <a:ext cx="409575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173333"/>
                </a:solidFill>
                <a:latin typeface="Open Sans"/>
                <a:ea typeface="Open Sans"/>
                <a:cs typeface="Open Sans"/>
                <a:sym typeface="Open Sans"/>
              </a:rPr>
              <a:t>200 cây • depth 6 • cân bằng tốt nhất.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7D5B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Lựa chọn Random Forest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0935" y="1991692"/>
            <a:ext cx="10346130" cy="735136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763250" y="281940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7D5B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RANDOM FOREST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0" y="3486150"/>
            <a:ext cx="6667500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0,8795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58500" y="4591050"/>
            <a:ext cx="5715000" cy="34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R² trên tập kiểm thử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8500" y="5667375"/>
            <a:ext cx="5905500" cy="97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50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MAE  2.448 USD</a:t>
            </a:r>
          </a:p>
          <a:p>
            <a:pPr algn="l">
              <a:lnSpc>
                <a:spcPts val="3933"/>
              </a:lnSpc>
            </a:pPr>
            <a:r>
              <a:rPr lang="en-US" sz="2850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RMSE  4.325 USD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58500" y="7210425"/>
            <a:ext cx="6191250" cy="63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0,5 MB  •  ~37 ms / dự đoán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Nhẹ, nhanh, ổn định — không overfit nặng.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7D5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Đóng gói Mô hình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0125" y="3333750"/>
            <a:ext cx="4953000" cy="2857500"/>
            <a:chOff x="0" y="0"/>
            <a:chExt cx="6604000" cy="381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7D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604000" cy="228600"/>
              <a:chOff x="0" y="0"/>
              <a:chExt cx="6604000" cy="228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040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FF76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6040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82600" y="609600"/>
              <a:ext cx="5715000" cy="486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model.joblib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82600" y="1695450"/>
              <a:ext cx="5715000" cy="753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Pipeline hoàn chỉnh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tiền xử lý + RF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19875" y="3333750"/>
            <a:ext cx="4953000" cy="2857500"/>
            <a:chOff x="0" y="0"/>
            <a:chExt cx="6604000" cy="3810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60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7D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228600"/>
              <a:chOff x="0" y="0"/>
              <a:chExt cx="6604000" cy="2286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67D5B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2600" y="609600"/>
              <a:ext cx="5715000" cy="486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schema.json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82600" y="1695450"/>
              <a:ext cx="5715000" cy="753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Validate backend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dựng form frontend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39625" y="3333750"/>
            <a:ext cx="4953000" cy="2857500"/>
            <a:chOff x="0" y="0"/>
            <a:chExt cx="6604000" cy="3810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0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7D1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604000" cy="228600"/>
              <a:chOff x="0" y="0"/>
              <a:chExt cx="6604000" cy="228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040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F4C95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6040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82600" y="609600"/>
              <a:ext cx="5715000" cy="486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metadata.json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82600" y="1695450"/>
              <a:ext cx="5715000" cy="753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Phiên bản • sklearn 1.5.1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9817C"/>
                  </a:solidFill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95500" y="7324725"/>
            <a:ext cx="14097000" cy="43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315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COLAB  →  tải joblib  →  models/  →  rebuild AI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86250" y="8258175"/>
            <a:ext cx="9715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Model chỉ nạp một lần khi container khởi động.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Kiến trúc &amp; Hợp đồng API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3429000"/>
            <a:ext cx="2952750" cy="1714500"/>
            <a:chOff x="0" y="0"/>
            <a:chExt cx="39370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220452"/>
                  </a:lnTo>
                  <a:cubicBezTo>
                    <a:pt x="3937000" y="2237836"/>
                    <a:pt x="3930094" y="2254509"/>
                    <a:pt x="3917801" y="2266801"/>
                  </a:cubicBezTo>
                  <a:cubicBezTo>
                    <a:pt x="3905509" y="2279094"/>
                    <a:pt x="3888836" y="2286000"/>
                    <a:pt x="3871452" y="2286000"/>
                  </a:cubicBezTo>
                  <a:lnTo>
                    <a:pt x="65548" y="2286000"/>
                  </a:lnTo>
                  <a:cubicBezTo>
                    <a:pt x="48164" y="2286000"/>
                    <a:pt x="31491" y="2279094"/>
                    <a:pt x="19199" y="2266801"/>
                  </a:cubicBezTo>
                  <a:cubicBezTo>
                    <a:pt x="6906" y="2254509"/>
                    <a:pt x="0" y="2237836"/>
                    <a:pt x="0" y="2220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937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:3000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981450" y="4286250"/>
            <a:ext cx="609600" cy="0"/>
          </a:xfrm>
          <a:prstGeom prst="line">
            <a:avLst/>
          </a:prstGeom>
          <a:ln cap="rnd" w="47625">
            <a:solidFill>
              <a:srgbClr val="67D5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762500" y="3429000"/>
            <a:ext cx="2952750" cy="1714500"/>
            <a:chOff x="0" y="0"/>
            <a:chExt cx="39370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220452"/>
                  </a:lnTo>
                  <a:cubicBezTo>
                    <a:pt x="3937000" y="2237836"/>
                    <a:pt x="3930094" y="2254509"/>
                    <a:pt x="3917801" y="2266801"/>
                  </a:cubicBezTo>
                  <a:cubicBezTo>
                    <a:pt x="3905509" y="2279094"/>
                    <a:pt x="3888836" y="2286000"/>
                    <a:pt x="3871452" y="2286000"/>
                  </a:cubicBezTo>
                  <a:lnTo>
                    <a:pt x="65548" y="2286000"/>
                  </a:lnTo>
                  <a:cubicBezTo>
                    <a:pt x="48164" y="2286000"/>
                    <a:pt x="31491" y="2279094"/>
                    <a:pt x="19199" y="2266801"/>
                  </a:cubicBezTo>
                  <a:cubicBezTo>
                    <a:pt x="6906" y="2254509"/>
                    <a:pt x="0" y="2237836"/>
                    <a:pt x="0" y="2220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937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</a:t>
              </a:r>
            </a:p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:8000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7886700" y="4286250"/>
            <a:ext cx="609600" cy="0"/>
          </a:xfrm>
          <a:prstGeom prst="line">
            <a:avLst/>
          </a:prstGeom>
          <a:ln cap="rnd" w="47625">
            <a:solidFill>
              <a:srgbClr val="67D5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667750" y="3429000"/>
            <a:ext cx="2952750" cy="1714500"/>
            <a:chOff x="0" y="0"/>
            <a:chExt cx="39370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220452"/>
                  </a:lnTo>
                  <a:cubicBezTo>
                    <a:pt x="3937000" y="2237836"/>
                    <a:pt x="3930094" y="2254509"/>
                    <a:pt x="3917801" y="2266801"/>
                  </a:cubicBezTo>
                  <a:cubicBezTo>
                    <a:pt x="3905509" y="2279094"/>
                    <a:pt x="3888836" y="2286000"/>
                    <a:pt x="3871452" y="2286000"/>
                  </a:cubicBezTo>
                  <a:lnTo>
                    <a:pt x="65548" y="2286000"/>
                  </a:lnTo>
                  <a:cubicBezTo>
                    <a:pt x="48164" y="2286000"/>
                    <a:pt x="31491" y="2279094"/>
                    <a:pt x="19199" y="2266801"/>
                  </a:cubicBezTo>
                  <a:cubicBezTo>
                    <a:pt x="6906" y="2254509"/>
                    <a:pt x="0" y="2237836"/>
                    <a:pt x="0" y="2220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FF765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937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SERVICE</a:t>
              </a:r>
            </a:p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:8001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1791950" y="4286250"/>
            <a:ext cx="1562100" cy="0"/>
          </a:xfrm>
          <a:prstGeom prst="line">
            <a:avLst/>
          </a:prstGeom>
          <a:ln cap="rnd" w="47625">
            <a:solidFill>
              <a:srgbClr val="67D5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3525500" y="3429000"/>
            <a:ext cx="3714750" cy="1714500"/>
            <a:chOff x="0" y="0"/>
            <a:chExt cx="4953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953000">
                  <a:moveTo>
                    <a:pt x="52103" y="0"/>
                  </a:moveTo>
                  <a:lnTo>
                    <a:pt x="4900897" y="0"/>
                  </a:lnTo>
                  <a:cubicBezTo>
                    <a:pt x="4914716" y="0"/>
                    <a:pt x="4927969" y="5489"/>
                    <a:pt x="4937740" y="15260"/>
                  </a:cubicBezTo>
                  <a:cubicBezTo>
                    <a:pt x="4947511" y="25032"/>
                    <a:pt x="4953000" y="38284"/>
                    <a:pt x="4953000" y="52103"/>
                  </a:cubicBezTo>
                  <a:lnTo>
                    <a:pt x="4953000" y="2233897"/>
                  </a:lnTo>
                  <a:cubicBezTo>
                    <a:pt x="4953000" y="2247716"/>
                    <a:pt x="4947511" y="2260968"/>
                    <a:pt x="4937740" y="2270739"/>
                  </a:cubicBezTo>
                  <a:cubicBezTo>
                    <a:pt x="4927969" y="2280511"/>
                    <a:pt x="4914716" y="2286000"/>
                    <a:pt x="4900897" y="2286000"/>
                  </a:cubicBezTo>
                  <a:lnTo>
                    <a:pt x="52103" y="2286000"/>
                  </a:lnTo>
                  <a:cubicBezTo>
                    <a:pt x="38284" y="2286000"/>
                    <a:pt x="25032" y="2280511"/>
                    <a:pt x="15260" y="2270739"/>
                  </a:cubicBezTo>
                  <a:cubicBezTo>
                    <a:pt x="5489" y="2260968"/>
                    <a:pt x="0" y="2247716"/>
                    <a:pt x="0" y="2233897"/>
                  </a:cubicBezTo>
                  <a:lnTo>
                    <a:pt x="0" y="52103"/>
                  </a:lnTo>
                  <a:cubicBezTo>
                    <a:pt x="0" y="38284"/>
                    <a:pt x="5489" y="25032"/>
                    <a:pt x="15260" y="15260"/>
                  </a:cubicBezTo>
                  <a:cubicBezTo>
                    <a:pt x="25032" y="5489"/>
                    <a:pt x="38284" y="0"/>
                    <a:pt x="52103" y="0"/>
                  </a:cubicBezTo>
                  <a:close/>
                </a:path>
              </a:pathLst>
            </a:custGeom>
            <a:solidFill>
              <a:srgbClr val="10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53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model.joblib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14500" y="6229350"/>
            <a:ext cx="5715000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POST /api/predict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4500" y="6934200"/>
            <a:ext cx="685800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200  prediction + model_version + request_id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7458075"/>
            <a:ext cx="571500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F7657"/>
                </a:solidFill>
                <a:latin typeface="Open Sans"/>
                <a:ea typeface="Open Sans"/>
                <a:cs typeface="Open Sans"/>
                <a:sym typeface="Open Sans"/>
              </a:rPr>
              <a:t>400  invalid_input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72750" y="6362700"/>
            <a:ext cx="5334000" cy="6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  →  MongoDB</a:t>
            </a:r>
          </a:p>
          <a:p>
            <a:pPr algn="l">
              <a:lnSpc>
                <a:spcPts val="2371"/>
              </a:lnSpc>
            </a:pPr>
            <a:r>
              <a:rPr lang="en-US" sz="2325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lưu lịch sử dự đoán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2750" y="7496175"/>
            <a:ext cx="5905500" cy="27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URL / port cấu hình qua .env — không hardcode localhost.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0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7D5B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Docker, Log &amp; Health Check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2924175"/>
            <a:ext cx="10953750" cy="59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docker compose up --build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638550"/>
            <a:ext cx="6667500" cy="34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3 service + MongoDB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5429250"/>
            <a:ext cx="4572000" cy="39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9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GET /health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934075"/>
            <a:ext cx="666750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status • port • uptime • model_loaded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39500" y="2943225"/>
            <a:ext cx="552450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request_id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34750" y="3810000"/>
            <a:ext cx="4762500" cy="44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6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  →  BE  → 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4750" y="5295900"/>
            <a:ext cx="4762500" cy="151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Gửi dự đoán</a:t>
            </a:r>
          </a:p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→ Xác thực</a:t>
            </a:r>
          </a:p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→ AI trả kết quả</a:t>
            </a:r>
          </a:p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→ Lưu lịch sử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810750" y="2857500"/>
            <a:ext cx="0" cy="5476875"/>
          </a:xfrm>
          <a:prstGeom prst="line">
            <a:avLst/>
          </a:prstGeom>
          <a:ln cap="flat" w="19050">
            <a:solidFill>
              <a:srgbClr val="6981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7D5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765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7333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Triển khai &amp; Git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762250"/>
            <a:ext cx="19050" cy="4953000"/>
            <a:chOff x="0" y="0"/>
            <a:chExt cx="25400" cy="660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CBD7D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3009900"/>
            <a:ext cx="6477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765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TRIỂN KHAI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686175"/>
            <a:ext cx="6477000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Cloud</a:t>
            </a:r>
          </a:p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73333"/>
                </a:solidFill>
                <a:latin typeface="Archivo Black"/>
                <a:ea typeface="Archivo Black"/>
                <a:cs typeface="Archivo Black"/>
                <a:sym typeface="Archivo Black"/>
              </a:rPr>
              <a:t>hoặc Ngrok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5410200"/>
            <a:ext cx="6191250" cy="27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Cập nhật README và tunnel-changelog sau mỗi lần publish.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0" y="3009900"/>
            <a:ext cx="6477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765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GIT &amp; BẢO MẬT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0" y="3686175"/>
            <a:ext cx="66675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Branch → Merge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0" y="5133975"/>
            <a:ext cx="6191250" cy="17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125">
                <a:solidFill>
                  <a:srgbClr val="69817C"/>
                </a:solidFill>
                <a:latin typeface="Open Sans"/>
                <a:ea typeface="Open Sans"/>
                <a:cs typeface="Open Sans"/>
                <a:sym typeface="Open Sans"/>
              </a:rPr>
              <a:t>Repo public, tuyệt đối không commit .env hoặc token. Không force push đè code của nhau.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6500" y="7915275"/>
            <a:ext cx="1333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144">
                <a:solidFill>
                  <a:srgbClr val="17333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PUBLISH AN TOÀN  =  CẤU HÌNH TÁCH RỜI  +  LỊCH SỬ RÕ RÀNG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9817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17333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0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590550"/>
            <a:ext cx="14287500" cy="1125474"/>
            <a:chOff x="0" y="0"/>
            <a:chExt cx="19050000" cy="15006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7D5B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  /  HỌC MÁY CƠ BẢN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7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Kịch bản Demo &amp; Hạn chế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2990850"/>
            <a:ext cx="3429000" cy="193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35"/>
              </a:lnSpc>
            </a:pPr>
            <a:r>
              <a:rPr lang="en-US" sz="1425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60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24250" y="3543300"/>
            <a:ext cx="4095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67D5B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GIÂY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5229225"/>
            <a:ext cx="8858250" cy="43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3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Mở URL  →  nhập mẫu  →  dự đoán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6162675"/>
            <a:ext cx="8572500" cy="95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Theo dõi request_id trên 3 service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docker compose ps  •  /health  •  /model-info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67D5B5"/>
                </a:solidFill>
                <a:latin typeface="Open Sans"/>
                <a:ea typeface="Open Sans"/>
                <a:cs typeface="Open Sans"/>
                <a:sym typeface="Open Sans"/>
              </a:rPr>
              <a:t>Thử smoker = ‘maybe’  →  lỗi 400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28194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4C95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HẠN CHẾ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3750" y="3533775"/>
            <a:ext cx="5715000" cy="142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sz="36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Dữ liệu nhỏ.</a:t>
            </a:r>
          </a:p>
          <a:p>
            <a:pPr algn="l">
              <a:lnSpc>
                <a:spcPts val="3748"/>
              </a:lnSpc>
            </a:pPr>
            <a:r>
              <a:rPr lang="en-US" sz="36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Bối cảnh Mỹ.</a:t>
            </a:r>
          </a:p>
          <a:p>
            <a:pPr algn="l">
              <a:lnSpc>
                <a:spcPts val="3748"/>
              </a:lnSpc>
            </a:pPr>
            <a:r>
              <a:rPr lang="en-US" sz="36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Chưa có SHAP.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50" y="6457950"/>
            <a:ext cx="5619750" cy="29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Repo chỉ có 1 file model.joblib.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53750" y="7867650"/>
            <a:ext cx="571500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4200">
                <a:solidFill>
                  <a:srgbClr val="FF7657"/>
                </a:solidFill>
                <a:latin typeface="Archivo Black"/>
                <a:ea typeface="Archivo Black"/>
                <a:cs typeface="Archivo Black"/>
                <a:sym typeface="Archivo Black"/>
              </a:rPr>
              <a:t>HỎI &amp; ĐÁP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750" y="9772650"/>
            <a:ext cx="16192500" cy="186690"/>
            <a:chOff x="0" y="0"/>
            <a:chExt cx="21590000" cy="2489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889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>
                  <a:solidFill>
                    <a:srgbClr val="67D5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221180  •  NHÓM DỰ ÁN BẢO HIỂM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701000" y="-19050"/>
              <a:ext cx="889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84"/>
                </a:lnSpc>
              </a:pPr>
              <a:r>
                <a:rPr lang="en-US" sz="12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DAHWWgwfff8</dc:identifier>
  <dcterms:modified xsi:type="dcterms:W3CDTF">2011-08-01T06:04:30Z</dcterms:modified>
  <cp:revision>1</cp:revision>
  <dc:title>Dự đoán chi phí bảo hiểm</dc:title>
</cp:coreProperties>
</file>