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3" r:id="rId17"/>
    <p:sldId id="271" r:id="rId18"/>
    <p:sldId id="272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56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473407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20840" cy="6858000"/>
          </a:xfrm>
          <a:prstGeom prst="rect">
            <a:avLst/>
          </a:prstGeom>
          <a:solidFill>
            <a:srgbClr val="14332F"/>
          </a:solidFill>
          <a:ln/>
        </p:spPr>
      </p:sp>
      <p:sp>
        <p:nvSpPr>
          <p:cNvPr id="3" name="Shape 1"/>
          <p:cNvSpPr/>
          <p:nvPr/>
        </p:nvSpPr>
        <p:spPr>
          <a:xfrm>
            <a:off x="6720840" y="0"/>
            <a:ext cx="5470855" cy="6858000"/>
          </a:xfrm>
          <a:prstGeom prst="rect">
            <a:avLst/>
          </a:prstGeom>
          <a:solidFill>
            <a:srgbClr val="0E2421"/>
          </a:solidFill>
          <a:ln/>
        </p:spPr>
      </p:sp>
      <p:pic>
        <p:nvPicPr>
          <p:cNvPr id="4" name="Image 0" descr="/home/workdir/artifacts/media/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0"/>
            <a:ext cx="547085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720840" y="0"/>
            <a:ext cx="73152" cy="6858000"/>
          </a:xfrm>
          <a:prstGeom prst="rect">
            <a:avLst/>
          </a:prstGeom>
          <a:solidFill>
            <a:srgbClr val="14332F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50292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10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 DỰ ÁN  •  15–20 PHÚT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02920" y="1554480"/>
            <a:ext cx="5943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Dự đoán chi phí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bảo hiểm y tế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502920" y="34290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Bằng bài toán hồi quy và mô hình Random Forest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02920" y="507492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9D9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MÁY CƠ BẢN (221180)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C9D9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Hồi quy  ×  Random Forest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2920" y="651052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A0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221180  •  NHÓM DỰ ÁN BẢO HIỂM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11338560" y="651052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/  HỌC MÁY CƠ BẢN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Thứ tự trình bày — 15–20 phút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56235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03504" y="1399032"/>
            <a:ext cx="566928" cy="475488"/>
          </a:xfrm>
          <a:prstGeom prst="roundRect">
            <a:avLst>
              <a:gd name="adj" fmla="val 11538"/>
            </a:avLst>
          </a:prstGeom>
          <a:solidFill>
            <a:srgbClr val="14332F"/>
          </a:solidFill>
          <a:ln/>
        </p:spPr>
      </p:sp>
      <p:sp>
        <p:nvSpPr>
          <p:cNvPr id="7" name="Text 5"/>
          <p:cNvSpPr/>
          <p:nvPr/>
        </p:nvSpPr>
        <p:spPr>
          <a:xfrm>
            <a:off x="603504" y="1399032"/>
            <a:ext cx="566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25880" y="130759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toán &amp; dữ liệu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25880" y="165506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hồi quy, nguồn Kaggle, 6 đặc trưng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74920" y="1453896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2'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286000"/>
            <a:ext cx="56235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03504" y="2542032"/>
            <a:ext cx="566928" cy="475488"/>
          </a:xfrm>
          <a:prstGeom prst="roundRect">
            <a:avLst>
              <a:gd name="adj" fmla="val 11538"/>
            </a:avLst>
          </a:prstGeom>
          <a:solidFill>
            <a:srgbClr val="14332F"/>
          </a:solidFill>
          <a:ln/>
        </p:spPr>
      </p:sp>
      <p:sp>
        <p:nvSpPr>
          <p:cNvPr id="13" name="Text 11"/>
          <p:cNvSpPr/>
          <p:nvPr/>
        </p:nvSpPr>
        <p:spPr>
          <a:xfrm>
            <a:off x="603504" y="2542032"/>
            <a:ext cx="566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25880" y="245059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EDA ≥ 5 hình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25880" y="279806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 sát → ý nghĩa → quyết định xử lý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074920" y="2596896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4'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57200" y="3429000"/>
            <a:ext cx="56235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03504" y="3685032"/>
            <a:ext cx="566928" cy="475488"/>
          </a:xfrm>
          <a:prstGeom prst="roundRect">
            <a:avLst>
              <a:gd name="adj" fmla="val 11538"/>
            </a:avLst>
          </a:prstGeom>
          <a:solidFill>
            <a:srgbClr val="14332F"/>
          </a:solidFill>
          <a:ln/>
        </p:spPr>
      </p:sp>
      <p:sp>
        <p:nvSpPr>
          <p:cNvPr id="19" name="Text 17"/>
          <p:cNvSpPr/>
          <p:nvPr/>
        </p:nvSpPr>
        <p:spPr>
          <a:xfrm>
            <a:off x="603504" y="3685032"/>
            <a:ext cx="566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25880" y="359359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Tiền xử lý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325880" y="394106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Chia trước, Pipeline, chống leakage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74920" y="3739896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2'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57200" y="4572000"/>
            <a:ext cx="56235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03504" y="4828032"/>
            <a:ext cx="566928" cy="475488"/>
          </a:xfrm>
          <a:prstGeom prst="roundRect">
            <a:avLst>
              <a:gd name="adj" fmla="val 11538"/>
            </a:avLst>
          </a:prstGeom>
          <a:solidFill>
            <a:srgbClr val="14332F"/>
          </a:solidFill>
          <a:ln/>
        </p:spPr>
      </p:sp>
      <p:sp>
        <p:nvSpPr>
          <p:cNvPr id="25" name="Text 23"/>
          <p:cNvSpPr/>
          <p:nvPr/>
        </p:nvSpPr>
        <p:spPr>
          <a:xfrm>
            <a:off x="603504" y="4828032"/>
            <a:ext cx="566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325880" y="473659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model + metric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325880" y="508406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Baseline, siêu tham số, chọn RF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074920" y="4882896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4'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309360" y="1143000"/>
            <a:ext cx="56235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55664" y="1399032"/>
            <a:ext cx="566928" cy="475488"/>
          </a:xfrm>
          <a:prstGeom prst="roundRect">
            <a:avLst>
              <a:gd name="adj" fmla="val 11538"/>
            </a:avLst>
          </a:prstGeom>
          <a:solidFill>
            <a:srgbClr val="14332F"/>
          </a:solidFill>
          <a:ln/>
        </p:spPr>
      </p:sp>
      <p:sp>
        <p:nvSpPr>
          <p:cNvPr id="31" name="Text 29"/>
          <p:cNvSpPr/>
          <p:nvPr/>
        </p:nvSpPr>
        <p:spPr>
          <a:xfrm>
            <a:off x="6455664" y="1399032"/>
            <a:ext cx="566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178040" y="130759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Đóng gói &amp; hệ thống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178040" y="165506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joblib, API, Docker, request_id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0927080" y="1453896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3'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309360" y="2286000"/>
            <a:ext cx="56235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455664" y="2542032"/>
            <a:ext cx="566928" cy="475488"/>
          </a:xfrm>
          <a:prstGeom prst="roundRect">
            <a:avLst>
              <a:gd name="adj" fmla="val 11538"/>
            </a:avLst>
          </a:prstGeom>
          <a:solidFill>
            <a:srgbClr val="14332F"/>
          </a:solidFill>
          <a:ln/>
        </p:spPr>
      </p:sp>
      <p:sp>
        <p:nvSpPr>
          <p:cNvPr id="37" name="Text 35"/>
          <p:cNvSpPr/>
          <p:nvPr/>
        </p:nvSpPr>
        <p:spPr>
          <a:xfrm>
            <a:off x="6455664" y="2542032"/>
            <a:ext cx="566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7178040" y="245059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2 máy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7178040" y="279806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URL public + log xuyên 3 service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0927080" y="2596896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3'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309360" y="3429000"/>
            <a:ext cx="56235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455664" y="3685032"/>
            <a:ext cx="566928" cy="475488"/>
          </a:xfrm>
          <a:prstGeom prst="roundRect">
            <a:avLst>
              <a:gd name="adj" fmla="val 11538"/>
            </a:avLst>
          </a:prstGeom>
          <a:solidFill>
            <a:srgbClr val="14332F"/>
          </a:solidFill>
          <a:ln/>
        </p:spPr>
      </p:sp>
      <p:sp>
        <p:nvSpPr>
          <p:cNvPr id="43" name="Text 41"/>
          <p:cNvSpPr/>
          <p:nvPr/>
        </p:nvSpPr>
        <p:spPr>
          <a:xfrm>
            <a:off x="6455664" y="3685032"/>
            <a:ext cx="566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178040" y="359359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luận &amp; Q&amp;A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7178040" y="394106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Hạn chế, hướng phát triển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10927080" y="3739896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2'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457200" y="65653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221180  •  NHÓM DỰ ÁN BẢO HIỂM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11247120" y="65653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/  HỌC MÁY CƠ BẢN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Thành viên &amp; phân công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5486400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43000"/>
            <a:ext cx="109728" cy="4892040"/>
          </a:xfrm>
          <a:prstGeom prst="rect">
            <a:avLst/>
          </a:prstGeom>
          <a:solidFill>
            <a:srgbClr val="E85D3A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3258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77240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Đào Văn Khiêm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77240" y="208483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MSSV  10123189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24688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nền tảng + AI Service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880360"/>
            <a:ext cx="48463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EDA (≥5 hình) và quyết định xử lý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tiền xử lý, chống leakage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Regression, Decision Tree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Service: nạp model, /predict, /health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 báo cáo: Dữ liệu + EDA + Model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17920" y="1143000"/>
            <a:ext cx="5532120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17920" y="1143000"/>
            <a:ext cx="109728" cy="4892040"/>
          </a:xfrm>
          <a:prstGeom prst="rect">
            <a:avLst/>
          </a:prstGeom>
          <a:solidFill>
            <a:srgbClr val="6FCFC0"/>
          </a:solidFill>
          <a:ln/>
        </p:spPr>
      </p:sp>
      <p:sp>
        <p:nvSpPr>
          <p:cNvPr id="14" name="Text 12"/>
          <p:cNvSpPr/>
          <p:nvPr/>
        </p:nvSpPr>
        <p:spPr>
          <a:xfrm>
            <a:off x="6537960" y="13258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537960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Nguyễn Trọng Phương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537960" y="208483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MSSV  10123262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37960" y="24688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nâng cao + Web App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37960" y="288036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Forest, SVR + GridSearch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validate schema + MongoDB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form theo schema.json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Compose, triển khai, tunnel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 báo cáo: Kiến trúc + Deploy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65653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221180  •  NHÓM DỰ ÁN BẢO HIỂM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1247120" y="65653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/  HỌC MÁY CƠ BẢN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toán &amp; dữ liệu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" y="126187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MỤC TIÊU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148132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charges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685800" y="2029968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Dự đoán chi phí bảo hiểm y tế (USD / năm).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Đây là biến liên tục → bài toán hồi quy, không phải phân loại.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035040" y="1115568"/>
            <a:ext cx="57150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263640" y="1298448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1.338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6263640" y="184708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dòng  •  0 giá trị thiếu  •  7 cột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263640" y="219456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Kaggle  mirichoi0218 / insurance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Giấy phép ODbL  •  ai-models/data/dataset.zip + DATA.md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456432"/>
            <a:ext cx="1810512" cy="1051560"/>
          </a:xfrm>
          <a:prstGeom prst="roundRect">
            <a:avLst>
              <a:gd name="adj" fmla="val 6957"/>
            </a:avLst>
          </a:prstGeom>
          <a:solidFill>
            <a:srgbClr val="14332F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566160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7200" y="3968496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Tuổi, 18–64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377440" y="3456432"/>
            <a:ext cx="1810512" cy="1051560"/>
          </a:xfrm>
          <a:prstGeom prst="roundRect">
            <a:avLst>
              <a:gd name="adj" fmla="val 6957"/>
            </a:avLst>
          </a:prstGeom>
          <a:solidFill>
            <a:srgbClr val="14332F"/>
          </a:solidFill>
          <a:ln/>
        </p:spPr>
      </p:sp>
      <p:sp>
        <p:nvSpPr>
          <p:cNvPr id="17" name="Text 15"/>
          <p:cNvSpPr/>
          <p:nvPr/>
        </p:nvSpPr>
        <p:spPr>
          <a:xfrm>
            <a:off x="2377440" y="3566160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sex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2377440" y="3968496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 / nữ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97680" y="3456432"/>
            <a:ext cx="1810512" cy="1051560"/>
          </a:xfrm>
          <a:prstGeom prst="roundRect">
            <a:avLst>
              <a:gd name="adj" fmla="val 6957"/>
            </a:avLst>
          </a:prstGeom>
          <a:solidFill>
            <a:srgbClr val="14332F"/>
          </a:solidFill>
          <a:ln/>
        </p:spPr>
      </p:sp>
      <p:sp>
        <p:nvSpPr>
          <p:cNvPr id="20" name="Text 18"/>
          <p:cNvSpPr/>
          <p:nvPr/>
        </p:nvSpPr>
        <p:spPr>
          <a:xfrm>
            <a:off x="4297680" y="3566160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bmi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297680" y="3968496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 số BMI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17920" y="3456432"/>
            <a:ext cx="1810512" cy="1051560"/>
          </a:xfrm>
          <a:prstGeom prst="roundRect">
            <a:avLst>
              <a:gd name="adj" fmla="val 6957"/>
            </a:avLst>
          </a:prstGeom>
          <a:solidFill>
            <a:srgbClr val="14332F"/>
          </a:solidFill>
          <a:ln/>
        </p:spPr>
      </p:sp>
      <p:sp>
        <p:nvSpPr>
          <p:cNvPr id="23" name="Text 21"/>
          <p:cNvSpPr/>
          <p:nvPr/>
        </p:nvSpPr>
        <p:spPr>
          <a:xfrm>
            <a:off x="6217920" y="3566160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children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217920" y="3968496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con 0–5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138160" y="3456432"/>
            <a:ext cx="1810512" cy="1051560"/>
          </a:xfrm>
          <a:prstGeom prst="roundRect">
            <a:avLst>
              <a:gd name="adj" fmla="val 6957"/>
            </a:avLst>
          </a:prstGeom>
          <a:solidFill>
            <a:srgbClr val="14332F"/>
          </a:solidFill>
          <a:ln/>
        </p:spPr>
      </p:sp>
      <p:sp>
        <p:nvSpPr>
          <p:cNvPr id="26" name="Text 24"/>
          <p:cNvSpPr/>
          <p:nvPr/>
        </p:nvSpPr>
        <p:spPr>
          <a:xfrm>
            <a:off x="8138160" y="3566160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smoker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138160" y="3968496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 / no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0058400" y="3456432"/>
            <a:ext cx="1810512" cy="1051560"/>
          </a:xfrm>
          <a:prstGeom prst="roundRect">
            <a:avLst>
              <a:gd name="adj" fmla="val 6957"/>
            </a:avLst>
          </a:prstGeom>
          <a:solidFill>
            <a:srgbClr val="14332F"/>
          </a:solidFill>
          <a:ln/>
        </p:spPr>
      </p:sp>
      <p:sp>
        <p:nvSpPr>
          <p:cNvPr id="29" name="Text 27"/>
          <p:cNvSpPr/>
          <p:nvPr/>
        </p:nvSpPr>
        <p:spPr>
          <a:xfrm>
            <a:off x="10058400" y="3566160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0058400" y="3968496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vùng Mỹ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681728"/>
            <a:ext cx="1129284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85800" y="4828032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LÀ HỒI QUY?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85800" y="5102352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charges là số thực liên tục (1.122 – 63.770 USD). Cần ước lượng số tiền, không gán nhãn lớp. Metric phù hợp: MAE (lỗi trung bình, đơn vị USD), RMSE (phạt lỗi lớn ở đuôi smoker), R² (tỉ lệ phương sai giải thích so với baseline trung bình).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7200" y="65653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221180  •  NHÓM DỰ ÁN BẢO HIỂM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1247120" y="65653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/  EDA  •  HÌNH 1–3 / 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tích khám phá — mỗi hình 3 ý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3794760" cy="5212080"/>
          </a:xfrm>
          <a:prstGeom prst="roundRect">
            <a:avLst>
              <a:gd name="adj" fmla="val 1928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pic>
        <p:nvPicPr>
          <p:cNvPr id="6" name="Image 0" descr="/home/workdir/artifacts/figures/01_charges_h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07008"/>
            <a:ext cx="3520440" cy="21579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345643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•  Histogram charges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3767328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Thấy gì? Lệch phải (skew ≈ 1,52). Median 9.382, mean 13.270 USD.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48640" y="4425696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Ý nghĩa: đuôi cao = người hút thuốc / BMI lớn. MAPE dễ lệch.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48640" y="5065776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Quyết định: giữ nguyên đơn vị USD; dùng MAE + RMSE + R²; không cắt outlier.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51960" y="1078992"/>
            <a:ext cx="3794760" cy="5212080"/>
          </a:xfrm>
          <a:prstGeom prst="roundRect">
            <a:avLst>
              <a:gd name="adj" fmla="val 1928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pic>
        <p:nvPicPr>
          <p:cNvPr id="12" name="Image 1" descr="/home/workdir/artifacts/figures/02_smoker_bo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0" y="1207008"/>
            <a:ext cx="3520440" cy="215798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434840" y="345643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•  Boxplot smoker × charges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4434840" y="3767328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Thấy gì? Median yes 34.456 vs no 7.345 — gấp ~4,7 lần. 274/1338 hút thuốc.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4434840" y="4425696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Ý nghĩa: smoker là đặc trưng mạnh nhất (corr ≈ 0,79).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4434840" y="5065776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Quyết định: one-hot smoker; không gộp nhóm; không bỏ outlier đuôi.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8138160" y="1078992"/>
            <a:ext cx="3703320" cy="5212080"/>
          </a:xfrm>
          <a:prstGeom prst="roundRect">
            <a:avLst>
              <a:gd name="adj" fmla="val 1975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pic>
        <p:nvPicPr>
          <p:cNvPr id="18" name="Image 2" descr="/home/workdir/artifacts/figures/03_miss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47888" y="1207008"/>
            <a:ext cx="3474720" cy="215798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302752" y="34564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•  Bản đồ dữ liệu thiếu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8302752" y="3767328"/>
            <a:ext cx="3429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Thấy gì? 0 missing trên cả 7 cột. Không trùng lặp bất thường.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8302752" y="4425696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Ý nghĩa: dữ liệu sạch, đáng tin cho hồi quy.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8302752" y="5065776"/>
            <a:ext cx="3429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Quyết định: vẫn gắn SimpleImputer trong Pipeline — API an toàn khi user thiếu field.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457200" y="65653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221180  •  NHÓM DỰ ÁN BẢO HIỂM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11247120" y="65653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/  EDA  •  HÌNH 4–6 / 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Tương quan, tương tác phi tuyến, region yếu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3794760" cy="5212080"/>
          </a:xfrm>
          <a:prstGeom prst="roundRect">
            <a:avLst>
              <a:gd name="adj" fmla="val 1928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pic>
        <p:nvPicPr>
          <p:cNvPr id="6" name="Image 0" descr="/home/workdir/artifacts/figures/04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188720"/>
            <a:ext cx="3566160" cy="2468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3730752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•  Heatmap tương quan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4005072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Thấy gì? smoker_yes 0,79 · age 0,30 · bmi 0,20 · region |r| &lt; 0,08.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48640" y="46177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Ý nghĩa: xếp hạng đặc trưng rõ; region yếu nhưng không nhiễu.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48640" y="51206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Quyết định: giữ đủ 6 đặc trưng; không bỏ region (schema FE cần đủ cột).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51960" y="1078992"/>
            <a:ext cx="3794760" cy="5212080"/>
          </a:xfrm>
          <a:prstGeom prst="roundRect">
            <a:avLst>
              <a:gd name="adj" fmla="val 1928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pic>
        <p:nvPicPr>
          <p:cNvPr id="12" name="Image 1" descr="/home/workdir/artifacts/figures/06_bmi_smok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0832" y="1207008"/>
            <a:ext cx="3547872" cy="21762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434840" y="349300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•  Scatter BMI × charges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4434840" y="3785616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Thấy gì? Người hút thuốc: BMI tăng → charges nhảy vọt. Người không hút: gần phẳng.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4434840" y="446227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Ý nghĩa: tương tác phi tuyến — Linear không đủ.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4434840" y="4956048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Quyết định: cần cây / RF / kernel, không chỉ hồi quy tuyến tính.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8138160" y="1078992"/>
            <a:ext cx="3703320" cy="5212080"/>
          </a:xfrm>
          <a:prstGeom prst="roundRect">
            <a:avLst>
              <a:gd name="adj" fmla="val 1975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pic>
        <p:nvPicPr>
          <p:cNvPr id="18" name="Image 2" descr="/home/workdir/artifacts/figures/05_age_smok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47888" y="1207008"/>
            <a:ext cx="3474720" cy="217627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302752" y="3493008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•  Age × smoker + region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8302752" y="3785616"/>
            <a:ext cx="3429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Thấy gì? Hai dải song song theo tuổi. Region median lệch ít (8,8k–10,1k).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8302752" y="4462272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Ý nghĩa: age cộng thêm trên nền smoker; region yếu.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8302752" y="4956048"/>
            <a:ext cx="3429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Quyết định: one-hot region; không tạo feature từ target.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457200" y="65653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221180  •  NHÓM DỰ ÁN BẢO HIỂM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11247120" y="65653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/  HỌC MÁY CƠ BẢN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Tiền xử lý — chống data leakage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22402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126187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5544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CHIA 80/20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993392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= 42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mọi fit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24912" y="1143000"/>
            <a:ext cx="22402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724912" y="126187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816352" y="15544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IMPUTER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816352" y="1993392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/ most_frequent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an toàn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84064" y="1143000"/>
            <a:ext cx="22402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084064" y="126187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175504" y="15544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ONE-HOT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175504" y="1993392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sex, smoker, region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thứ tự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443216" y="1143000"/>
            <a:ext cx="22402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43216" y="126187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534656" y="15544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534656" y="1993392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StandardScaler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 cần cho SVR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802368" y="1143000"/>
            <a:ext cx="2240280" cy="1965960"/>
          </a:xfrm>
          <a:prstGeom prst="roundRect">
            <a:avLst>
              <a:gd name="adj" fmla="val 3721"/>
            </a:avLst>
          </a:prstGeom>
          <a:solidFill>
            <a:srgbClr val="14332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802368" y="126187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893808" y="15544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893808" y="1993392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9D9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ColumnTransformer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9D9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dump cùng model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65760" y="3291840"/>
            <a:ext cx="1147572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94360" y="3456432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TẮC VÀNG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94360" y="3749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Chia dữ liệu trước. Fit transformer chỉ trên train.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594360" y="4187952"/>
            <a:ext cx="11018520" cy="1874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Cây / RF không cần scale — scaler nằm trong nhánh ColumnTransformer, RF vẫn nhận feature gốc đã encode.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One-Hot vì sex / smoker / region không có thứ tự tự nhiên (không dùng Ordinal).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Toàn bộ biến đổi nằm trong sklearn Pipeline → lúc dự đoán giống hệt lúc huấn luyện. Không viết lại encode ở Backend.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schema.json khóa tên cột, kiểu, min/max, enum — cùng danh sách xuyên EDA → pipeline → BE validate → FE form.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57200" y="65653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221180  •  NHÓM DỰ ÁN BẢO HIỂM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247120" y="65653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/  HỌC MÁY CƠ BẢN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mô hình + Dummy baseline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11480" y="1097280"/>
            <a:ext cx="1138428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66928" y="1298448"/>
            <a:ext cx="493776" cy="493776"/>
          </a:xfrm>
          <a:prstGeom prst="roundRect">
            <a:avLst>
              <a:gd name="adj" fmla="val 11111"/>
            </a:avLst>
          </a:prstGeom>
          <a:solidFill>
            <a:srgbClr val="14332F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2984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34440" y="120700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Dummy mean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120640" y="122529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Mốc “không học”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34440" y="1554480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Dự đoán trung bình train. R² ≈ 0. Dùng để biết model thật sự học được gì.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11480" y="2084832"/>
            <a:ext cx="1138428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66928" y="2286000"/>
            <a:ext cx="493776" cy="493776"/>
          </a:xfrm>
          <a:prstGeom prst="roundRect">
            <a:avLst>
              <a:gd name="adj" fmla="val 11111"/>
            </a:avLst>
          </a:prstGeom>
          <a:solidFill>
            <a:srgbClr val="14332F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228600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34440" y="21945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Regression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120640" y="221284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tuyến tính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34440" y="2542032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Hệ số cộng tính. Underfit tương tác smoker × BMI — R² test 0,78.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11480" y="3072384"/>
            <a:ext cx="1138428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66928" y="3273552"/>
            <a:ext cx="493776" cy="493776"/>
          </a:xfrm>
          <a:prstGeom prst="roundRect">
            <a:avLst>
              <a:gd name="adj" fmla="val 11111"/>
            </a:avLst>
          </a:prstGeom>
          <a:solidFill>
            <a:srgbClr val="14332F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27355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234440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Tree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120640" y="320040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Cây đơn, depth = 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234440" y="3529584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GridSearch max_depth=4, min_samples_leaf=4. Gần không overfit (0,865 / 0,864).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11480" y="4059936"/>
            <a:ext cx="1138428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66928" y="4261104"/>
            <a:ext cx="493776" cy="493776"/>
          </a:xfrm>
          <a:prstGeom prst="roundRect">
            <a:avLst>
              <a:gd name="adj" fmla="val 11111"/>
            </a:avLst>
          </a:prstGeom>
          <a:solidFill>
            <a:srgbClr val="E85D3A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426110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234440" y="416966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Forest ★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120640" y="418795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Bagging 200 cây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234440" y="4517136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n_est=200, depth=6, leaf=4. Ổn định, RMSE tốt nhất, file 0,5 MB.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11480" y="5047488"/>
            <a:ext cx="1138428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66928" y="5248656"/>
            <a:ext cx="493776" cy="493776"/>
          </a:xfrm>
          <a:prstGeom prst="roundRect">
            <a:avLst>
              <a:gd name="adj" fmla="val 11111"/>
            </a:avLst>
          </a:prstGeom>
          <a:solidFill>
            <a:srgbClr val="14332F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524865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234440" y="515721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SVR RBF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5120640" y="517550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Kernel phi tuyến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234440" y="5504688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C=10000, ε=100. MAE thấp nhất nhưng RMSE kém RF vì đuôi charges.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57200" y="65653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221180  •  NHÓM DỰ ÁN BẢO HIỂM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247120" y="65653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/  HỌC MÁY CƠ BẢN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so sánh metric — cùng split 80/20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8842033"/>
              </p:ext>
            </p:extLst>
          </p:nvPr>
        </p:nvGraphicFramePr>
        <p:xfrm>
          <a:off x="365760" y="1078992"/>
          <a:ext cx="11475720" cy="2468880"/>
        </p:xfrm>
        <a:graphic>
          <a:graphicData uri="http://schemas.openxmlformats.org/drawingml/2006/table">
            <a:tbl>
              <a:tblPr/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32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MAE test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32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RMSE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32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R² test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32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R² train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32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Latency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32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Size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3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Dummy (mean) </a:t>
                      </a:r>
                      <a:r>
                        <a:rPr lang="en-US" sz="1200" dirty="0"/>
                        <a:t>❌ 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9.593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12.466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−0,001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ms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KB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Linear Regression </a:t>
                      </a:r>
                      <a:r>
                        <a:rPr lang="en-US" sz="1200" dirty="0"/>
                        <a:t>🥉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8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4.181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8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5.796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8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0,784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8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0,742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8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ms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8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KB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8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Decision Tree </a:t>
                      </a:r>
                      <a:r>
                        <a:rPr lang="en-US" sz="1200" dirty="0"/>
                        <a:t>🥈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2.698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4.593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0,864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0,865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ms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KB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Random Forest ★ </a:t>
                      </a:r>
                      <a:r>
                        <a:rPr lang="en-US" sz="1200" dirty="0"/>
                        <a:t>🏆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DE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2.448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DE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4.325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DE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0,8795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DE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0,894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DE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 ms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DE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501 KB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D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SVR (RBF) </a:t>
                      </a:r>
                      <a:r>
                        <a:rPr lang="en-US" sz="1200" dirty="0"/>
                        <a:t>📊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1.847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4.829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0,850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0,841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ms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 KB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114800"/>
            <a:ext cx="1147572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42519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ĐỌC BẢNG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94360" y="4535424"/>
            <a:ext cx="110642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baseline: RF kéo R² từ 0 → 0,88; MAE giảm từ 9,6k xuống 2,4k USD.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 vs test: RF 0,894 / 0,880 — khe nhỏ, không overfit nặng. Tree gần khớp hai tập vì depth bị khóa = 4.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SVR thắng MAE nhưng thua RMSE: kernel ôm tốt phần giữa, lệch ở đuôi smoker + BMI cao.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metric hồi quy MAE + RMSE + R² — giữ đơn vị USD, không dùng Accuracy.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65653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221180  •  NHÓM DỰ ÁN BẢO HIỂM</a:t>
            </a:r>
            <a:endParaRPr lang="en-US" sz="1000" dirty="0"/>
          </a:p>
        </p:txBody>
      </p:sp>
      <p:sp>
        <p:nvSpPr>
          <p:cNvPr id="5" name="Text 7"/>
          <p:cNvSpPr/>
          <p:nvPr/>
        </p:nvSpPr>
        <p:spPr>
          <a:xfrm>
            <a:off x="11247120" y="65653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3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/  HỌC MÁY CƠ BẢN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Random Forest</a:t>
            </a:r>
            <a:endParaRPr lang="en-US" sz="2800" dirty="0"/>
          </a:p>
        </p:txBody>
      </p:sp>
      <p:pic>
        <p:nvPicPr>
          <p:cNvPr id="5" name="Image 0" descr="/home/workdir/artifacts/figures/09_train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143000"/>
            <a:ext cx="5943600" cy="35204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0" y="11430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R² test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583680" y="1389888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0,8795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6583680" y="208483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MAE  2.448 USD     RMSE  4.325 USD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583680" y="2560320"/>
            <a:ext cx="5120640" cy="685800"/>
          </a:xfrm>
          <a:prstGeom prst="roundRect">
            <a:avLst>
              <a:gd name="adj" fmla="val 8000"/>
            </a:avLst>
          </a:prstGeom>
          <a:solidFill>
            <a:srgbClr val="1B3F3A"/>
          </a:solidFill>
          <a:ln/>
        </p:spPr>
      </p:sp>
      <p:sp>
        <p:nvSpPr>
          <p:cNvPr id="10" name="Text 7"/>
          <p:cNvSpPr/>
          <p:nvPr/>
        </p:nvSpPr>
        <p:spPr>
          <a:xfrm>
            <a:off x="6766560" y="2633472"/>
            <a:ext cx="4800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Tốt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766560" y="287121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R² / RMSE tốt nhất, bắt tương tác smoker × BMI × age.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583680" y="3337560"/>
            <a:ext cx="5120640" cy="685800"/>
          </a:xfrm>
          <a:prstGeom prst="roundRect">
            <a:avLst>
              <a:gd name="adj" fmla="val 8000"/>
            </a:avLst>
          </a:prstGeom>
          <a:solidFill>
            <a:srgbClr val="1B3F3A"/>
          </a:solidFill>
          <a:ln/>
        </p:spPr>
      </p:sp>
      <p:sp>
        <p:nvSpPr>
          <p:cNvPr id="13" name="Text 10"/>
          <p:cNvSpPr/>
          <p:nvPr/>
        </p:nvSpPr>
        <p:spPr>
          <a:xfrm>
            <a:off x="6766560" y="3410712"/>
            <a:ext cx="4800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Ổn định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766560" y="364845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Bagging 200 cây, khe train–test chỉ 0,015.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583680" y="4114800"/>
            <a:ext cx="5120640" cy="685800"/>
          </a:xfrm>
          <a:prstGeom prst="roundRect">
            <a:avLst>
              <a:gd name="adj" fmla="val 8000"/>
            </a:avLst>
          </a:prstGeom>
          <a:solidFill>
            <a:srgbClr val="1B3F3A"/>
          </a:solidFill>
          <a:ln/>
        </p:spPr>
      </p:sp>
      <p:sp>
        <p:nvSpPr>
          <p:cNvPr id="16" name="Text 13"/>
          <p:cNvSpPr/>
          <p:nvPr/>
        </p:nvSpPr>
        <p:spPr>
          <a:xfrm>
            <a:off x="6766560" y="4187952"/>
            <a:ext cx="4800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766560" y="442569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501 KB, ~37 ms/mẫu — vừa GitHub, vừa container.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4892040"/>
            <a:ext cx="5120640" cy="685800"/>
          </a:xfrm>
          <a:prstGeom prst="roundRect">
            <a:avLst>
              <a:gd name="adj" fmla="val 8000"/>
            </a:avLst>
          </a:prstGeom>
          <a:solidFill>
            <a:srgbClr val="1B3F3A"/>
          </a:solidFill>
          <a:ln/>
        </p:spPr>
      </p:sp>
      <p:sp>
        <p:nvSpPr>
          <p:cNvPr id="19" name="Text 16"/>
          <p:cNvSpPr/>
          <p:nvPr/>
        </p:nvSpPr>
        <p:spPr>
          <a:xfrm>
            <a:off x="6766560" y="4965192"/>
            <a:ext cx="4800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chọn SVR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766560" y="520293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MAE đẹp nhưng đuôi lỗi lớn; cần scaler riêng.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57200" y="65653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A0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221180  •  NHÓM DỰ ÁN BẢO HIỂM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11247120" y="65653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A0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 /  HỌC MÁY CƠ BẢN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Đóng gói model — cầu nối Colab → App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11480" y="1115568"/>
            <a:ext cx="3703320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280160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model.joblib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166420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ai-models/models/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029968"/>
            <a:ext cx="3246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hoàn chỉnh: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preprocess + Random Forest.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encode lại ở BE.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1115568"/>
            <a:ext cx="3703320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26280" y="1280160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schema.json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26280" y="166420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ai-models/models/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26280" y="2029968"/>
            <a:ext cx="3246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Tên cột, kiểu, min/max, enum.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validate + FE dựng form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nguồn sự thật.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83880" y="1115568"/>
            <a:ext cx="3703320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12480" y="1280160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metadata.json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412480" y="166420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ai-models/models/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412480" y="2029968"/>
            <a:ext cx="3246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 1.0.0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sklearn 1.5.1 · numpy 1.26.4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pandas 2.2.2 · metric bước 4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11480" y="3886200"/>
            <a:ext cx="113842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" y="4041648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EXPORT TỪ COLAB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437083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01_eda  →  02_preprocess  →  03_train  →  04_evaluate     •     Restart &amp; Run All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0080" y="475488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 03 ghi 3 artifact → Download → copy vào ai-models/models/ → docker compose up --build ai-service.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được nạp một lần khi container khởi động (startup), không nạp lại mỗi request. Ghim sklearn==1.5.1 khớp Colab ↔ Docker.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65653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221180  •  NHÓM DỰ ÁN BẢO HIỂM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247120" y="65653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 /  HỌC MÁY CƠ BẢN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Kiến trúc &amp; hợp đồng API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11480" y="1115568"/>
            <a:ext cx="2788920" cy="1234440"/>
          </a:xfrm>
          <a:prstGeom prst="roundRect">
            <a:avLst>
              <a:gd name="adj" fmla="val 5926"/>
            </a:avLst>
          </a:prstGeom>
          <a:solidFill>
            <a:srgbClr val="14332F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225296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11480" y="1572768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:3000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11480" y="187452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9D9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 theo schema.json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0" y="1554480"/>
            <a:ext cx="155448" cy="256032"/>
          </a:xfrm>
          <a:prstGeom prst="rightArrow">
            <a:avLst/>
          </a:prstGeom>
          <a:solidFill>
            <a:srgbClr val="E85D3A"/>
          </a:solidFill>
          <a:ln/>
        </p:spPr>
      </p:sp>
      <p:sp>
        <p:nvSpPr>
          <p:cNvPr id="10" name="Shape 8"/>
          <p:cNvSpPr/>
          <p:nvPr/>
        </p:nvSpPr>
        <p:spPr>
          <a:xfrm>
            <a:off x="3355848" y="1115568"/>
            <a:ext cx="2788920" cy="1234440"/>
          </a:xfrm>
          <a:prstGeom prst="roundRect">
            <a:avLst>
              <a:gd name="adj" fmla="val 5926"/>
            </a:avLst>
          </a:prstGeom>
          <a:solidFill>
            <a:srgbClr val="14332F"/>
          </a:solidFill>
          <a:ln/>
        </p:spPr>
      </p:sp>
      <p:sp>
        <p:nvSpPr>
          <p:cNvPr id="11" name="Text 9"/>
          <p:cNvSpPr/>
          <p:nvPr/>
        </p:nvSpPr>
        <p:spPr>
          <a:xfrm>
            <a:off x="3355848" y="1225296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355848" y="1572768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:8000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355848" y="187452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9D9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+ gọi AI + Mongo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44768" y="1554480"/>
            <a:ext cx="155448" cy="256032"/>
          </a:xfrm>
          <a:prstGeom prst="rightArrow">
            <a:avLst/>
          </a:prstGeom>
          <a:solidFill>
            <a:srgbClr val="E85D3A"/>
          </a:solidFill>
          <a:ln/>
        </p:spPr>
      </p:sp>
      <p:sp>
        <p:nvSpPr>
          <p:cNvPr id="15" name="Shape 13"/>
          <p:cNvSpPr/>
          <p:nvPr/>
        </p:nvSpPr>
        <p:spPr>
          <a:xfrm>
            <a:off x="6300216" y="1115568"/>
            <a:ext cx="2788920" cy="1234440"/>
          </a:xfrm>
          <a:prstGeom prst="roundRect">
            <a:avLst>
              <a:gd name="adj" fmla="val 5926"/>
            </a:avLst>
          </a:prstGeom>
          <a:solidFill>
            <a:srgbClr val="14332F"/>
          </a:solidFill>
          <a:ln/>
        </p:spPr>
      </p:sp>
      <p:sp>
        <p:nvSpPr>
          <p:cNvPr id="16" name="Text 14"/>
          <p:cNvSpPr/>
          <p:nvPr/>
        </p:nvSpPr>
        <p:spPr>
          <a:xfrm>
            <a:off x="6300216" y="1225296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SERVICE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00216" y="1572768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:8001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300216" y="187452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9D9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Pipeline.predict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089136" y="1554480"/>
            <a:ext cx="155448" cy="256032"/>
          </a:xfrm>
          <a:prstGeom prst="rightArrow">
            <a:avLst/>
          </a:prstGeom>
          <a:solidFill>
            <a:srgbClr val="E85D3A"/>
          </a:solidFill>
          <a:ln/>
        </p:spPr>
      </p:sp>
      <p:sp>
        <p:nvSpPr>
          <p:cNvPr id="20" name="Shape 18"/>
          <p:cNvSpPr/>
          <p:nvPr/>
        </p:nvSpPr>
        <p:spPr>
          <a:xfrm>
            <a:off x="9244584" y="1115568"/>
            <a:ext cx="2788920" cy="1234440"/>
          </a:xfrm>
          <a:prstGeom prst="roundRect">
            <a:avLst>
              <a:gd name="adj" fmla="val 5926"/>
            </a:avLst>
          </a:prstGeom>
          <a:solidFill>
            <a:srgbClr val="E85D3A"/>
          </a:solidFill>
          <a:ln/>
        </p:spPr>
      </p:sp>
      <p:sp>
        <p:nvSpPr>
          <p:cNvPr id="21" name="Text 19"/>
          <p:cNvSpPr/>
          <p:nvPr/>
        </p:nvSpPr>
        <p:spPr>
          <a:xfrm>
            <a:off x="9244584" y="1225296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model.joblib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244584" y="1572768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244584" y="187452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9D9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Nạp 1 lần lúc start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11480" y="2560320"/>
            <a:ext cx="5623560" cy="36118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40080" y="272491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 /api/predict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40080" y="3090672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"features": { age, sex, bmi,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5C6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children, smoker, region } }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5C6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Header: X-Request-ID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0080" y="4251960"/>
            <a:ext cx="5212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 prediction + model_version + request_id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  invalid_input (ví dụ smoker = "maybe")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/health   GET /model-info   GET /api/history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217920" y="2560320"/>
            <a:ext cx="5577840" cy="36118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446520" y="272491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LUỒNG MỘT LẦN DỰ ĐOÁN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46520" y="3108960"/>
            <a:ext cx="512064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nhập form → FE sinh request_id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kiểm tra đúng schema.json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transform + predict (pipeline)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lưu MongoDB, trả FE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URL / port chỉ đọc từ .env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gọi nhau bằng tên service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57200" y="65653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221180  •  NHÓM DỰ ÁN BẢO HIỂM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247120" y="65653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3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 /  HỌC MÁY CƠ BẢN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Docker, log &amp; health check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11480" y="1115568"/>
            <a:ext cx="5760720" cy="2148840"/>
          </a:xfrm>
          <a:prstGeom prst="roundRect">
            <a:avLst>
              <a:gd name="adj" fmla="val 3404"/>
            </a:avLst>
          </a:prstGeom>
          <a:solidFill>
            <a:srgbClr val="1B3F3A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61872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KHỞI ĐỘNG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572768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 .env.example .env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up --build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265176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9D9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service + MongoDB  •  máy sạch chỉ cần Docker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55080" y="1115568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1B3F3A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0" y="1261872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 SÁT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83680" y="1572768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ps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/health  •  GET /model-info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83680" y="2651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9D9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· port · uptime_sec · model_loaded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11480" y="3429000"/>
            <a:ext cx="11384280" cy="2788920"/>
          </a:xfrm>
          <a:prstGeom prst="roundRect">
            <a:avLst>
              <a:gd name="adj" fmla="val 2623"/>
            </a:avLst>
          </a:prstGeom>
          <a:solidFill>
            <a:srgbClr val="1B3F3A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5844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request_id XUYÊN SUỐT  —  ĐÂY LÀ NỘI DUNG MÁY 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3950208"/>
            <a:ext cx="10972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FCF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10:15:02  frontend     req=7f3a  click Dự đoán → POST /api/predict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6FCF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10:15:02  backend      req=7f3a  validate OK → gọi ai-service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6FCF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10:15:02  ai-service   req=7f3a  predict 5.834 USD  model=1.0.0  in 12ms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6FCF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10:15:02  backend      req=7f3a  200 OK total 84ms, saved history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65653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A0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221180  •  NHÓM DỰ ÁN BẢO HIỂM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247120" y="65653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A0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 /  HỌC MÁY CƠ BẢN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Triển khai public &amp; Git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11480" y="1097280"/>
            <a:ext cx="5623560" cy="5074920"/>
          </a:xfrm>
          <a:prstGeom prst="roundRect">
            <a:avLst>
              <a:gd name="adj" fmla="val 144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28016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TRIỂN KHAI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60020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hoặc Ngrok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2148840"/>
            <a:ext cx="52120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+ AI Service phải public thật (không chỉ localhost).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Mọi URL đọc từ .env: PUBLIC_APP_URL, API_URL, AI_SERVICE_URL.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tunnel → ghi docs/tunnel-changelog.md + sửa README mục 11 + push.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IP tĩnh: cập nhật mỗi sáng thứ Hai trước giờ GV kiểm tra.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nóng hệ thống 10–15 phút trước bảo vệ (cloud hay “ngủ”).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0" y="1097280"/>
            <a:ext cx="5577840" cy="5074920"/>
          </a:xfrm>
          <a:prstGeom prst="roundRect">
            <a:avLst>
              <a:gd name="adj" fmla="val 144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46520" y="128016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&amp; BẢO MẬT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46520" y="160020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→ Merge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446520" y="2148840"/>
            <a:ext cx="512064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 public — mở được bằng cửa sổ ẩn danh.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thành viên commit bằng tài khoản của mình.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≥2 người sửa cùng phần: nhánh riêng + merge/PR.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force push, không rebase đổi ngày.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commit .env, token, kaggle.json.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65653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221180  •  NHÓM DỰ ÁN BẢO HIỂM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247120" y="65653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 /  HỌC MÁY CƠ BẢN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Kiểm thử chức năng &amp; hiệu năng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2816352" cy="30632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30352" y="1298448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Chức năng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30352" y="1645920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pytest AI + Backend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30352" y="2121408"/>
            <a:ext cx="248716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đúng → 200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smoker='maybe' → 400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nạp được lúc start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310128" y="1115568"/>
            <a:ext cx="2816352" cy="30632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74720" y="1298448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Smoke public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474720" y="1645920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curl + trình duyệt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474720" y="2121408"/>
            <a:ext cx="248716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URL mới, không cache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request hoàn chỉnh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3 service cùng id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54496" y="1115568"/>
            <a:ext cx="2816352" cy="30632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19088" y="1298448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test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19088" y="1645920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k6 docs/k6-predict.js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19088" y="2121408"/>
            <a:ext cx="248716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Gợi ý: 15 VU × 60s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p95 &lt; 2s, error &lt; 1%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Ghi README mục 13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198864" y="1115568"/>
            <a:ext cx="2816352" cy="30632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363456" y="1298448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 sát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363456" y="1645920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+ /health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363456" y="2121408"/>
            <a:ext cx="248716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container Up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model_loaded = true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uptime_sec tăng dần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" y="4343400"/>
            <a:ext cx="1147572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94360" y="44988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CHỊU TẢI (điền số thật sau khi chạy k6 trên URL public)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94360" y="4828032"/>
            <a:ext cx="11064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Mục tiêu GV gợi ý: 10–20 user đồng thời trong 1 phút, error &lt; 1%, p95 /api/predict &lt; 2 giây khi hệ thống đã nóng.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Latency model RF ~37 ms — nút thắt thường ở mạng tunnel / cold start, không phải ở cây quyết định.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57200" y="65653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221180  •  NHÓM DỰ ÁN BẢO HIỂM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1247120" y="65653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D8F7E30-E014-47A3-91F8-69150E2489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12296025" cy="6929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08137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 /  BẢO VỆ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demo — 2 máy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5623560" cy="5074920"/>
          </a:xfrm>
          <a:prstGeom prst="roundRect">
            <a:avLst>
              <a:gd name="adj" fmla="val 144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8016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MÁY 1  •  SLIDE CỐ ĐỊNH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" y="1627632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nguyên slide,</a:t>
            </a:r>
            <a:endParaRPr lang="en-US" sz="2000" dirty="0"/>
          </a:p>
          <a:p>
            <a:pPr marL="0" indent="0">
              <a:buNone/>
            </a:pPr>
            <a:r>
              <a:rPr lang="en-US" sz="20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chuyển cửa sổ.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94360" y="2514600"/>
            <a:ext cx="5212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Trình bày đúng thứ tự ưu tiên của giảng viên.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Máy sạc đầy, HDMI/USB-C sẵn, tắt ngủ và thông báo.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Internet dự phòng: 4G hotspot đã thử trước.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nóng hệ thống 10–15 phút trước khi vào.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Dự phòng: docker compose local trên Máy 2 (không thay bản public).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72200" y="1097280"/>
            <a:ext cx="5669280" cy="5074920"/>
          </a:xfrm>
          <a:prstGeom prst="roundRect">
            <a:avLst>
              <a:gd name="adj" fmla="val 144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0" y="1280160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MÁY 2  •  TEAMVIEWER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46520" y="1691640"/>
            <a:ext cx="347472" cy="347472"/>
          </a:xfrm>
          <a:prstGeom prst="ellipse">
            <a:avLst/>
          </a:prstGeom>
          <a:solidFill>
            <a:srgbClr val="14332F"/>
          </a:solidFill>
          <a:ln/>
        </p:spPr>
      </p:sp>
      <p:sp>
        <p:nvSpPr>
          <p:cNvPr id="12" name="Text 10"/>
          <p:cNvSpPr/>
          <p:nvPr/>
        </p:nvSpPr>
        <p:spPr>
          <a:xfrm>
            <a:off x="6446520" y="16916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903720" y="1673352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URL public, cửa sổ mới, nhập 1 mẫu, bấm Dự đoán.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46520" y="2514600"/>
            <a:ext cx="347472" cy="347472"/>
          </a:xfrm>
          <a:prstGeom prst="ellipse">
            <a:avLst/>
          </a:prstGeom>
          <a:solidFill>
            <a:srgbClr val="14332F"/>
          </a:solidFill>
          <a:ln/>
        </p:spPr>
      </p:sp>
      <p:sp>
        <p:nvSpPr>
          <p:cNvPr id="15" name="Text 13"/>
          <p:cNvSpPr/>
          <p:nvPr/>
        </p:nvSpPr>
        <p:spPr>
          <a:xfrm>
            <a:off x="6446520" y="2514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903720" y="2496312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 đúng 1 request_id đi qua FE → BE → AI.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46520" y="3337560"/>
            <a:ext cx="347472" cy="347472"/>
          </a:xfrm>
          <a:prstGeom prst="ellipse">
            <a:avLst/>
          </a:prstGeom>
          <a:solidFill>
            <a:srgbClr val="14332F"/>
          </a:solidFill>
          <a:ln/>
        </p:spPr>
      </p:sp>
      <p:sp>
        <p:nvSpPr>
          <p:cNvPr id="18" name="Text 16"/>
          <p:cNvSpPr/>
          <p:nvPr/>
        </p:nvSpPr>
        <p:spPr>
          <a:xfrm>
            <a:off x="6446520" y="33375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903720" y="3319272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compose ps + /health + /model-info.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46520" y="4160520"/>
            <a:ext cx="347472" cy="347472"/>
          </a:xfrm>
          <a:prstGeom prst="ellipse">
            <a:avLst/>
          </a:prstGeom>
          <a:solidFill>
            <a:srgbClr val="14332F"/>
          </a:solidFill>
          <a:ln/>
        </p:spPr>
      </p:sp>
      <p:sp>
        <p:nvSpPr>
          <p:cNvPr id="21" name="Text 19"/>
          <p:cNvSpPr/>
          <p:nvPr/>
        </p:nvSpPr>
        <p:spPr>
          <a:xfrm>
            <a:off x="6446520" y="41605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903720" y="4142232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smoker = “maybe” → HTTP 400 invalid_input.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46520" y="4983480"/>
            <a:ext cx="347472" cy="347472"/>
          </a:xfrm>
          <a:prstGeom prst="ellipse">
            <a:avLst/>
          </a:prstGeom>
          <a:solidFill>
            <a:srgbClr val="14332F"/>
          </a:solidFill>
          <a:ln/>
        </p:spPr>
      </p:sp>
      <p:sp>
        <p:nvSpPr>
          <p:cNvPr id="24" name="Text 22"/>
          <p:cNvSpPr/>
          <p:nvPr/>
        </p:nvSpPr>
        <p:spPr>
          <a:xfrm>
            <a:off x="6446520" y="49834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903720" y="4965192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 ra đường dẫn ai-models/models/model.joblib.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57200" y="65653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221180  •  NHÓM DỰ ÁN BẢO HIỂM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247120" y="65653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3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 /  KẾT LUẬN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Đã làm được  •  Hạn chế  •  Hướng tới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3749040" cy="4160520"/>
          </a:xfrm>
          <a:prstGeom prst="roundRect">
            <a:avLst>
              <a:gd name="adj" fmla="val 1951"/>
            </a:avLst>
          </a:prstGeom>
          <a:solidFill>
            <a:srgbClr val="1B3F3A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3258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ĐÃ LÀM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1755648"/>
            <a:ext cx="32918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Hồi quy charges, 6 đặc trưng, data Kaggle + DATA.md.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EDA 6 hình, mỗi hình 3 ý.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model + Dummy, cùng split/metric.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 R² 0,88 — pipeline trong joblib.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FE–BE–AI–Mongo, Docker, request_id.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279392" y="1143000"/>
            <a:ext cx="3749040" cy="4160520"/>
          </a:xfrm>
          <a:prstGeom prst="roundRect">
            <a:avLst>
              <a:gd name="adj" fmla="val 1951"/>
            </a:avLst>
          </a:prstGeom>
          <a:solidFill>
            <a:srgbClr val="1B3F3A"/>
          </a:solidFill>
          <a:ln/>
        </p:spPr>
      </p:sp>
      <p:sp>
        <p:nvSpPr>
          <p:cNvPr id="9" name="Text 7"/>
          <p:cNvSpPr/>
          <p:nvPr/>
        </p:nvSpPr>
        <p:spPr>
          <a:xfrm>
            <a:off x="4507992" y="13258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HẠN CHẾ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07992" y="1755648"/>
            <a:ext cx="32918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1.338 dòng, bối cảnh phí Mỹ — không đại diện VN.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Chưa SHAP trên UI.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Mongo local chưa auth.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test public cần ghi số thật vào README.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93024" y="1143000"/>
            <a:ext cx="3749040" cy="4160520"/>
          </a:xfrm>
          <a:prstGeom prst="roundRect">
            <a:avLst>
              <a:gd name="adj" fmla="val 1951"/>
            </a:avLst>
          </a:prstGeom>
          <a:solidFill>
            <a:srgbClr val="1B3F3A"/>
          </a:solidFill>
          <a:ln/>
        </p:spPr>
      </p:sp>
      <p:sp>
        <p:nvSpPr>
          <p:cNvPr id="12" name="Text 10"/>
          <p:cNvSpPr/>
          <p:nvPr/>
        </p:nvSpPr>
        <p:spPr>
          <a:xfrm>
            <a:off x="8421624" y="13258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HƯỚNG TỚI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421624" y="1755648"/>
            <a:ext cx="32918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Log-transform target / XGBoost.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 giải thích từng dự đoán.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CI: docker compose build trên Actions.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+ IP tĩnh khi nâng production.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65760" y="5486400"/>
            <a:ext cx="1143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HỎI &amp; ĐÁP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57200" y="65653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A0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221180  •  NHÓM DỰ ÁN BẢO HIỂM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247120" y="65653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A0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</TotalTime>
  <Words>2582</Words>
  <Application>Microsoft Office PowerPoint</Application>
  <PresentationFormat>Widescreen</PresentationFormat>
  <Paragraphs>416</Paragraphs>
  <Slides>18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Dự đoán chi phí bảo hiểm y tế — Hồi quy × Random Forest</dc:title>
  <dc:subject>Học máy cơ bản (221180) — Báo cáo dự án 15–20 phút</dc:subject>
  <dc:creator>Đào Văn Khiêm · Nguyễn Trọng Phương</dc:creator>
  <cp:lastModifiedBy>Admin</cp:lastModifiedBy>
  <cp:revision>4</cp:revision>
  <dcterms:created xsi:type="dcterms:W3CDTF">2026-09-27T02:57:41Z</dcterms:created>
  <dcterms:modified xsi:type="dcterms:W3CDTF">2026-10-02T12:37:03Z</dcterms:modified>
</cp:coreProperties>
</file>